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Стоимость, ₽</c:v>
                </c:pt>
              </c:strCache>
            </c:strRef>
          </c:tx>
          <c:spPr>
            <a:solidFill>
              <a:srgbClr val="D65E1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520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Подготовка и демонтаж</c:v>
                  </c:pt>
                  <c:pt idx="1">
                    <c:v>Покрытия и основания</c:v>
                  </c:pt>
                  <c:pt idx="2">
                    <c:v>Детская площадка</c:v>
                  </c:pt>
                  <c:pt idx="3">
                    <c:v>Сценический комплекс</c:v>
                  </c:pt>
                  <c:pt idx="4">
                    <c:v>Прочие МАФ и вход</c:v>
                  </c:pt>
                  <c:pt idx="5">
                    <c:v>Сохранение насаждений</c:v>
                  </c:pt>
                  <c:pt idx="6">
                    <c:v>Наружная канализация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218760</c:v>
                </c:pt>
                <c:pt idx="1">
                  <c:v>811200</c:v>
                </c:pt>
                <c:pt idx="2">
                  <c:v>462000</c:v>
                </c:pt>
                <c:pt idx="3">
                  <c:v>713800</c:v>
                </c:pt>
                <c:pt idx="4">
                  <c:v>859190</c:v>
                </c:pt>
                <c:pt idx="5">
                  <c:v>18000</c:v>
                </c:pt>
                <c:pt idx="6">
                  <c:v>114620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520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520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благоустройства территории Старожильского клуба. Участок 55:11:100201:1471, 1712 м². Стоимость 3 357 449 руб. при лимите 3,5 млн, запас 4,1 %.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Акцент: клуб не единственный в селе, но единственный с открытой территорией у воды.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Проблемы конкретные и проверяемые, без общих слов про упадок села.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Генплан в масштабе 1:200. Номера на схеме совпадают с перечнем.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кадр проекта: праздник на фоне озера Старица.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Зоны приземления по ГОСТ Р 52169.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Резьба — не декор ради декора, а действующий образец местного ремесла.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Ассортимент подобран по непрерывности цветения и по традиционной деревенской палитре — те же охра, малиновый и фиолетовый, что в тканых половиках на полянке.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Вместимость 200-250 человек — расчёт по площади полянки и зрительской площадки.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Ансамбль «Жихарка» и коллектив «Сибирская песня» — готовая основа для вечорок.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Аргумент о развитии: вложение работает за пределами одного села.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Ведомость не является сметой по ТЕР/ФЕР; для конкурсной документации нужен локальный сметный расчёт. Существующее ограждение по трём сторонам принято исправным и не включено.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Заполнить данные собрания и софинансирования перед подачей.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0"/>
            <a:ext cx="7132320" cy="40142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0" y="0"/>
            <a:ext cx="7132320" cy="4014216"/>
          </a:xfrm>
          <a:prstGeom prst="rect">
            <a:avLst/>
          </a:prstGeom>
          <a:solidFill>
            <a:srgbClr val="15201A">
              <a:alpha val="45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594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ИНИЦИАТИВНОЕ БЮДЖЕТИРОВАНИЕ · ОМСКАЯ ОБЛАСТЬ · 2026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6035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Полянка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 Старожильского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клуба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886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Благоустройство территории Любино-Старожильского сельского клуба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257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с. Любино-Малороссы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669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Любинский район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5257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1 500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5669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жителей села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217920" y="5257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726 м²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5669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площадь благоустройства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9006840" y="52578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A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3 357 449 ₽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006840" y="5669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проекта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vorota.jpg">    </p:cNvPr>
          <p:cNvPicPr>
            <a:picLocks noChangeAspect="1"/>
          </p:cNvPicPr>
          <p:nvPr/>
        </p:nvPicPr>
        <p:blipFill>
          <a:blip r:embed="rId1"/>
          <a:srcRect l="26000" r="26000" t="0" b="0"/>
          <a:stretch/>
        </p:blipFill>
        <p:spPr>
          <a:xfrm>
            <a:off x="0" y="0"/>
            <a:ext cx="585216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309360" y="5669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309360" y="91440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Клуб, библиотека</a:t>
            </a:r>
            <a:endParaRPr lang="en-US" sz="30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выход к озеру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309360" y="23317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Любино-Малороссах живёт около 1 500 человек. Старожильский клуб с сельской библиотекой под одной крышей — один из центров культурной жизни села.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309360" y="3383280"/>
            <a:ext cx="5303520" cy="91440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537960" y="350215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65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Праздники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537960" y="37673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Масленица · Троица · Новый год · концерты к 9 Мая, 8 Марта, 23 Февраля и Дню пожилого человека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4434840"/>
            <a:ext cx="5303520" cy="91440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45537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65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Коллективы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48188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«Сибирская песня» — взрослый · «Нотки» — детский · «Жихарка» — детский фольклорный ансамбль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5532120"/>
            <a:ext cx="5303520" cy="777240"/>
          </a:xfrm>
          <a:prstGeom prst="rect">
            <a:avLst/>
          </a:prstGeom>
          <a:solidFill>
            <a:srgbClr val="E8DFC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537960" y="5669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отличает эту площадку: открытая территория и выход к озеру Старица — единственное место, где праздник можно проводить под открытым небом, с водой на горизонте.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МЕШАЕТ СЕГОДНЯ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Главный ресурс клуба не работает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Открытое пространство у озера есть — но оно не обустроено.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69164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468880"/>
            <a:ext cx="457200" cy="457200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4963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Сцены нет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926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Выступающие стоят на земле. Погода срывает концерт целиком.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257800" cy="169164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468880"/>
            <a:ext cx="457200" cy="457200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4963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Скамеек нет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29260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 несут стулья из дома. Хоровод водить негде — поляна неровная.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69164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4434840"/>
            <a:ext cx="457200" cy="457200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622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Детям играть негде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4892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праздниках дети под ногами у взрослых, игровой зоны нет.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257800" cy="169164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0" y="4434840"/>
            <a:ext cx="457200" cy="457200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4622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Машины на дороге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4892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дни праздников автомобили встают на проезжей части ул. Старожильской.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два дощатых уличных туалета у берега: непригодны и закрывают выход к воде.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ПРОЕКТНОЕ РЕШЕНИЕ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Оборудованная деревенская площадь</a:t>
            </a:r>
            <a:endParaRPr lang="en-US" sz="3200" dirty="0"/>
          </a:p>
        </p:txBody>
      </p:sp>
      <p:pic>
        <p:nvPicPr>
          <p:cNvPr id="4" name="Image 0" descr="deck/pla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91640"/>
            <a:ext cx="4754880" cy="4617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691640"/>
            <a:ext cx="329184" cy="329184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06440" y="1691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6459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 с навесом и ветрозащитой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8745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× 4 м, свод из оранжевого поликарбоната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06440" y="2185416"/>
            <a:ext cx="329184" cy="329184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806440" y="2185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13969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Полянка для хороводов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36829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211 м² ровного газона под половики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06440" y="2679192"/>
            <a:ext cx="329184" cy="329184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80644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263347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Зрительская площадка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28620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м² асфальта перед эстрадой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806440" y="3172968"/>
            <a:ext cx="329184" cy="329184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80644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312724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Входная группа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33558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резные ворота, тропа 5 м, подход к клубу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806440" y="3666744"/>
            <a:ext cx="329184" cy="329184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806440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362102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Беседка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384962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 от ворот, створы на сцену и площадку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806440" y="4160520"/>
            <a:ext cx="329184" cy="329184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80644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411480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Детская площадка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309360" y="43434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м² в полосе 6,7 м вдоль забора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806440" y="4654296"/>
            <a:ext cx="329184" cy="329184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806440" y="4654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309360" y="4608576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Цветник 52 растения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483717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видов у входа в клуб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806440" y="5148072"/>
            <a:ext cx="329184" cy="329184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806440" y="5148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309360" y="5102352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Парковка</a:t>
            </a:r>
            <a:endParaRPr lang="en-US" sz="1250" dirty="0"/>
          </a:p>
        </p:txBody>
      </p:sp>
      <p:sp>
        <p:nvSpPr>
          <p:cNvPr id="36" name="Text 33"/>
          <p:cNvSpPr txBox="1"/>
          <p:nvPr/>
        </p:nvSpPr>
        <p:spPr>
          <a:xfrm>
            <a:off x="6309360" y="533095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мест на крошке, вне ограждения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806440" y="5641848"/>
            <a:ext cx="329184" cy="329184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806440" y="5641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309360" y="5596128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Ограждение решётчатое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6309360" y="582472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п.м с трёх сторон, столбы с бетонированием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5806440" y="6135624"/>
            <a:ext cx="329184" cy="329184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806440" y="6135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309360" y="6089904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Замена трубы канализации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6309360" y="63185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п.м от выпуска до септика, траншея до 2,0 м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806440" y="6355080"/>
            <a:ext cx="5760720" cy="0"/>
          </a:xfrm>
          <a:prstGeom prst="rect">
            <a:avLst/>
          </a:prstGeom>
          <a:solidFill>
            <a:srgbClr val="F2F5E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scena-cle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4023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ЭЛЕМЕНТ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464515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Сцена у воды и полянка для хороводов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5623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Эстрада 8 × 4 м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8978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Полукруглый настил под сводом из оранжевого поликарбоната — знак солнца и главный цветовой акцент площадки. Со стороны воды — прозрачная ветрозащита 1,9 м: гасит ветер с озера, но не закрывает вид.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4434840" y="5623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Полянка 211 м²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4434840" y="58978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Скамьи не ставим намеренно: ровный свободный газон нужен под хороводы и вечорки — для них требуется круг, а не ряды.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5623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Тканые половики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58978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праздники расстилают домотканые дорожки — привычная рассадка, которая освобождается за минуту, когда встают в хоровод.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detskay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66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ДЕТИ И РОДИТЕЛИ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9144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Площадка в поле зрения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116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 м² перед клубом справа, в прямой видимости из беседки: родители на празднике не теряют детей из виду.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85800" y="2916936"/>
            <a:ext cx="118872" cy="118872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28346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Песочница 2,5 × 2,5 м с крышкой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3319272"/>
            <a:ext cx="118872" cy="118872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32369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Качалка-балансир для малышей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85800" y="3721608"/>
            <a:ext cx="118872" cy="118872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36393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Качели «Гнездо» ⌀ 1,0 м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" y="4123944"/>
            <a:ext cx="118872" cy="118872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40416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Спортивная лазилка 4,0 × 3,0 м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" y="4526280"/>
            <a:ext cx="118872" cy="118872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60120" y="44439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Детская лавочка с сиденьем 0,35 м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5029200"/>
            <a:ext cx="4846320" cy="128016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68680" y="5193792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65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Покрытие — по смете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54681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Резина только под качелями и лазилкой, где высота падения наибольшая (70 м²). Остальное — песок 30 см: по ГОСТ Р ЕН 1177 равноценно, вдвое дешевле.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vho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62453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720840" y="5669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ВХОДНАЯ ГРУППА И ФАСАД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720840" y="914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Село узнаёт себя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 деталях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720840" y="2194560"/>
            <a:ext cx="402336" cy="402336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720840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296912" y="22128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Резные ворота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296912" y="2560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Прорезное очелье, ажурный подзор, вертикальный набор створок — сибирская домовая резьба, как на старых домах по Старожильской. Изготовление силами местных мастеров.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20840" y="3611880"/>
            <a:ext cx="402336" cy="402336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72084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296912" y="36301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Навес над входом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296912" y="39776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Металлический каркас, вынос 2,2 м: крыльцо закрыто от дождя и снега.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20840" y="5029200"/>
            <a:ext cx="402336" cy="402336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720840" y="5029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7296912" y="5047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Таблички клуба и библиотеки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296912" y="53949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Существующие, в смету не входят. На южном фасаде у угла, справа от дорожки, в один ряд на отметке 2,35 м — в модели показаны для ориентации.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ЦВЕТНИК У ВХОДА В КЛУБ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Шесть видов, цветение с июня до заморозков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Полоса 5,0 × 2,0 м вдоль западного фасада, 52 растения в четыре яруса. Подобраны так, чтобы цветник работал весь сезон мероприятий: от летних праздников до Дня пожилого человека.</a:t>
            </a:r>
            <a:endParaRPr lang="en-US" sz="1250" dirty="0"/>
          </a:p>
        </p:txBody>
      </p:sp>
      <p:pic>
        <p:nvPicPr>
          <p:cNvPr id="5" name="Image 0" descr="deck/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7223760" cy="2953512"/>
          </a:xfrm>
          <a:prstGeom prst="rect">
            <a:avLst/>
          </a:prstGeom>
        </p:spPr>
      </p:pic>
      <p:pic>
        <p:nvPicPr>
          <p:cNvPr id="6" name="Image 1" descr="deck/cvetni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92440" y="2103120"/>
            <a:ext cx="3456432" cy="288950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5047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посадки, М 1:25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8092440" y="5047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с дорожки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40080" y="5468112"/>
            <a:ext cx="237744" cy="237744"/>
          </a:xfrm>
          <a:prstGeom prst="ellipse">
            <a:avLst/>
          </a:prstGeom>
          <a:solidFill>
            <a:srgbClr val="C8A98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969264" y="54406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Гортензия метельчатая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969264" y="56875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шт · июль–сентябрь</a:t>
            </a:r>
            <a:endParaRPr lang="en-US" sz="880" dirty="0"/>
          </a:p>
        </p:txBody>
      </p:sp>
      <p:sp>
        <p:nvSpPr>
          <p:cNvPr id="12" name="Shape 8"/>
          <p:cNvSpPr/>
          <p:nvPr/>
        </p:nvSpPr>
        <p:spPr>
          <a:xfrm>
            <a:off x="2468880" y="5468112"/>
            <a:ext cx="237744" cy="237744"/>
          </a:xfrm>
          <a:prstGeom prst="ellipse">
            <a:avLst/>
          </a:prstGeom>
          <a:solidFill>
            <a:srgbClr val="C08A1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2798064" y="54406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Хризантема «дубки»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2798064" y="56875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шт · август–октябрь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4297680" y="5468112"/>
            <a:ext cx="237744" cy="237744"/>
          </a:xfrm>
          <a:prstGeom prst="ellipse">
            <a:avLst/>
          </a:prstGeom>
          <a:solidFill>
            <a:srgbClr val="6B4DA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626864" y="54406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Октябринки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4626864" y="56875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шт · сентябрь–октябрь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6126480" y="5468112"/>
            <a:ext cx="237744" cy="237744"/>
          </a:xfrm>
          <a:prstGeom prst="ellipse">
            <a:avLst/>
          </a:prstGeom>
          <a:solidFill>
            <a:srgbClr val="39704C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455664" y="54406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Хоста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455664" y="56875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шт · лист май–октябрь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7955280" y="5468112"/>
            <a:ext cx="237744" cy="237744"/>
          </a:xfrm>
          <a:prstGeom prst="ellipse">
            <a:avLst/>
          </a:prstGeom>
          <a:solidFill>
            <a:srgbClr val="9C2159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8284464" y="54406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Петуния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8284464" y="56875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шт · июнь–сентябрь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9784080" y="5468112"/>
            <a:ext cx="237744" cy="237744"/>
          </a:xfrm>
          <a:prstGeom prst="ellipse">
            <a:avLst/>
          </a:prstGeom>
          <a:solidFill>
            <a:srgbClr val="D1760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10113264" y="544068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Бархатцы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0113264" y="56875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шт · июнь–октябрь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640080" y="6144768"/>
            <a:ext cx="10908792" cy="45720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868680" y="625449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 цветника и газона берут на себя участники клуба совместно с администрацией села. Однолетники (бархатцы, петуния) обновляются рассадой ежегодно, многолетники высаживаются один раз.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ЭТО ТОЧКА ПРИТЯЖЕНИЯ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Одно место для четырёх поколений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 вмещает ограниченное число людей и делит их на сцену и ряды. Открытая площадка такого деления не делает.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06040" cy="237744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68880"/>
            <a:ext cx="566928" cy="566928"/>
          </a:xfrm>
          <a:prstGeom prst="ellipse">
            <a:avLst/>
          </a:prstGeom>
          <a:solidFill>
            <a:srgbClr val="6E9A4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749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игровая площадка 106 м², в поле зрения беседки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56432" y="2194560"/>
            <a:ext cx="2606040" cy="237744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11" name="Shape 9"/>
          <p:cNvSpPr/>
          <p:nvPr/>
        </p:nvSpPr>
        <p:spPr>
          <a:xfrm>
            <a:off x="3730752" y="2468880"/>
            <a:ext cx="566928" cy="566928"/>
          </a:xfrm>
          <a:prstGeom prst="ellipse">
            <a:avLst/>
          </a:prstGeom>
          <a:solidFill>
            <a:srgbClr val="2F738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730752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Родители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3749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беседка на 10–12 человек и полянка рядом с детьми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2784" y="2194560"/>
            <a:ext cx="2606040" cy="237744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16" name="Shape 14"/>
          <p:cNvSpPr/>
          <p:nvPr/>
        </p:nvSpPr>
        <p:spPr>
          <a:xfrm>
            <a:off x="6547104" y="2468880"/>
            <a:ext cx="566928" cy="566928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47104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47104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Старшее поколение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47104" y="3749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скамьи у сцены, хороводы и вечорки на полянке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89136" y="2194560"/>
            <a:ext cx="2606040" cy="237744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21" name="Shape 19"/>
          <p:cNvSpPr/>
          <p:nvPr/>
        </p:nvSpPr>
        <p:spPr>
          <a:xfrm>
            <a:off x="9363456" y="2468880"/>
            <a:ext cx="566928" cy="566928"/>
          </a:xfrm>
          <a:prstGeom prst="ellipse">
            <a:avLst/>
          </a:prstGeom>
          <a:solidFill>
            <a:srgbClr val="15201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6345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363456" y="3200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Подростки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63456" y="3749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асфальтированная площадка перед эстрадой — в будни место для игр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983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200–250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715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единовременно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389120" y="4983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1 500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4389120" y="5715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жителей села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983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65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круглый год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57150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лето — праздники, зима — ёлка и Масленица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КУЛЬТУРНЫЙ КОД И ТРАДИЦИИ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Проект намеренно сделан не «городским»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276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пластиковых скамей, ни типового павильона: каждое решение отсылает к тому, как в селе празднуют до сих пор.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1600200"/>
          </a:xfrm>
          <a:prstGeom prst="rect">
            <a:avLst/>
          </a:prstGeom>
          <a:solidFill>
            <a:srgbClr val="1F2C25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560320"/>
            <a:ext cx="402336" cy="402336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Любинские вечорки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9443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Главное, ради чего затевается площадка. Молодёжные посиделки с песнями, играми и плясками планируем возродить — для них нужно ровное открытое место, где круг собирается и расходится.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257800" cy="1600200"/>
          </a:xfrm>
          <a:prstGeom prst="rect">
            <a:avLst/>
          </a:prstGeom>
          <a:solidFill>
            <a:srgbClr val="1F2C25"/>
          </a:solidFill>
          <a:ln/>
        </p:spPr>
      </p:sp>
      <p:sp>
        <p:nvSpPr>
          <p:cNvPr id="11" name="Shape 9"/>
          <p:cNvSpPr/>
          <p:nvPr/>
        </p:nvSpPr>
        <p:spPr>
          <a:xfrm>
            <a:off x="6556248" y="2560320"/>
            <a:ext cx="402336" cy="402336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56248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578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Традиционные хороводы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9443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Хоровод требует свободного круга, а не рядов. Именно поэтому полянка остаётся ровной и без скамеек — это не экономия, а функция.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600200"/>
          </a:xfrm>
          <a:prstGeom prst="rect">
            <a:avLst/>
          </a:prstGeom>
          <a:solidFill>
            <a:srgbClr val="1F2C25"/>
          </a:solidFill>
          <a:ln/>
        </p:spPr>
      </p:sp>
      <p:sp>
        <p:nvSpPr>
          <p:cNvPr id="16" name="Shape 14"/>
          <p:cNvSpPr/>
          <p:nvPr/>
        </p:nvSpPr>
        <p:spPr>
          <a:xfrm>
            <a:off x="932688" y="4389120"/>
            <a:ext cx="402336" cy="402336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407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Тканые половики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7731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Домотканые дорожки есть в каждом доме, и на гуляньях их расстилали испокон веку. Полянка спроектирована под половики: это принятая в проекте норма, а не декоративная отсылка.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4114800"/>
            <a:ext cx="5257800" cy="1600200"/>
          </a:xfrm>
          <a:prstGeom prst="rect">
            <a:avLst/>
          </a:prstGeom>
          <a:solidFill>
            <a:srgbClr val="1F2C25"/>
          </a:solidFill>
          <a:ln/>
        </p:spPr>
      </p:sp>
      <p:sp>
        <p:nvSpPr>
          <p:cNvPr id="21" name="Shape 19"/>
          <p:cNvSpPr/>
          <p:nvPr/>
        </p:nvSpPr>
        <p:spPr>
          <a:xfrm>
            <a:off x="6556248" y="4389120"/>
            <a:ext cx="402336" cy="402336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56248" y="4389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4074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Клуб и библиотека вместе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77316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таблички на фасаде обозначают то, что у нас сохранилось и чего во многих сёлах уже нет: работающий очаг культуры с книгой.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Культурный код не восстанавливается лекциями. Он держится на том, что люди делают вместе и регулярно: водят хоровод, садятся на половики, поют, приводят детей на ту же поляну, где водили их самих.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scen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3200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8404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Гости села и отдыхающие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526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Старица — место, куда в сезон приезжают на отдых. Обустроенная площадка позволяет селу впервые предложить гостю не просто берег, а программу.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" y="5440680"/>
            <a:ext cx="128016" cy="128016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534924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Вечорка с «Сибирской песней» и «Жихаркой»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85800" y="5843016"/>
            <a:ext cx="128016" cy="128016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575157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Фольклорный концерт на эстраде у воды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" y="6245352"/>
            <a:ext cx="128016" cy="128016"/>
          </a:xfrm>
          <a:prstGeom prst="ellipse">
            <a:avLst/>
          </a:prstGeom>
          <a:solidFill>
            <a:srgbClr val="D65E1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60120" y="615391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Деревенский праздник в назначенный день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89520" y="3840480"/>
            <a:ext cx="3977640" cy="2331720"/>
          </a:xfrm>
          <a:prstGeom prst="rect">
            <a:avLst/>
          </a:prstGeom>
          <a:solidFill>
            <a:srgbClr val="E8DFC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863840" y="4041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D65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меняет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370832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Площадка работает не только на жителей, но и на узнаваемость Любино-Малоросс за пределами района — и создаёт основание для дальнейших проектов: сельский туризм, ярмарка, сувенирное ремесло.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ДЕФЕКТНАЯ ВЕДОМОСТЬ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3 357 449 ₽ при лимите 3,5 млн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позиция в семи разделах. Расценки укрупнённые, до подачи подтверждаются коммерческими предложениями.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2103120"/>
          <a:ext cx="6949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0" y="2148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3 197 570 ₽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2560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прямые затраты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3063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159 879 ₽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непредвиденные, 5 %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39776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65E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142 551 ₽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 до лимита, 4,1 %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0" y="4846320"/>
            <a:ext cx="3794760" cy="1508760"/>
          </a:xfrm>
          <a:prstGeom prst="rect">
            <a:avLst/>
          </a:prstGeom>
          <a:solidFill>
            <a:srgbClr val="F2F5E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001000" y="49834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D65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выбирались с оглядкой на смету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001000" y="5248656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80" dirty="0">
                <a:solidFill>
                  <a:srgbClr val="15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 нового ограждения отказались от бетонного цоколя под забором и от резинового покрытия: площадка целиком на песке 30 см — по ГОСТ Р ЕН 1177 это равноценно. Состав объектов и игровое оборудование сохранены.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2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eck/hero.jpg">    </p:cNvPr>
          <p:cNvPicPr>
            <a:picLocks noChangeAspect="1"/>
          </p:cNvPicPr>
          <p:nvPr/>
        </p:nvPicPr>
        <p:blipFill>
          <a:blip r:embed="rId1">
            <a:alphaModFix amt="28000"/>
          </a:blip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A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ЖИТЕЛЕЙ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Село готово вложиться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7830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Инициатива исходит от [инициативной группы / совета ветеранов], собрание граждан от [__.__.2026], протокол № [__].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5257800" cy="1097280"/>
          </a:xfrm>
          <a:prstGeom prst="rect">
            <a:avLst/>
          </a:prstGeom>
          <a:solidFill>
            <a:srgbClr val="1F2C25">
              <a:alpha val="85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60120" y="2679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Денежный вклад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0266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[сумма] руб. — [__] % от стоимости проекта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2514600"/>
            <a:ext cx="5257800" cy="1097280"/>
          </a:xfrm>
          <a:prstGeom prst="rect">
            <a:avLst/>
          </a:prstGeom>
          <a:solidFill>
            <a:srgbClr val="1F2C25">
              <a:alpha val="8500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83680" y="267919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Трудовое участие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0266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Субботники: планировка, посадка, покраска, укладка половиков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840480"/>
            <a:ext cx="5257800" cy="1097280"/>
          </a:xfrm>
          <a:prstGeom prst="rect">
            <a:avLst/>
          </a:prstGeom>
          <a:solidFill>
            <a:srgbClr val="1F2C25">
              <a:alpha val="85000"/>
            </a:srgbClr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60120" y="40050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Материалы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43525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[что именно предоставляют жители]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63640" y="3840480"/>
            <a:ext cx="5257800" cy="1097280"/>
          </a:xfrm>
          <a:prstGeom prst="rect">
            <a:avLst/>
          </a:prstGeom>
          <a:solidFill>
            <a:srgbClr val="1F2C25">
              <a:alpha val="85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583680" y="400507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Содержание после сдачи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43525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8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Цветник и газон — участники клуба совместно с администрацией села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6235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Полянка у Старожильского клуба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0533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с. Любино-Малороссы · ул. Старожильская, 44в · участок 55:11:100201:1471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5577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4A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3 357 449 ₽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61081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лимите 3 500 000 ₽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Полянка у Старожильского клуба</dc:title>
  <dc:subject>PptxGenJS Presentation</dc:subject>
  <dc:creator>Инициативная группа с. Любино-Малороссы</dc:creator>
  <cp:lastModifiedBy>Инициативная группа с. Любино-Малороссы</cp:lastModifiedBy>
  <cp:revision>1</cp:revision>
  <dcterms:created xsi:type="dcterms:W3CDTF">2026-10-09T23:09:54Z</dcterms:created>
  <dcterms:modified xsi:type="dcterms:W3CDTF">2026-10-09T23:09:54Z</dcterms:modified>
</cp:coreProperties>
</file>