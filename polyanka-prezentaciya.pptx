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Стоимость, ₽</c:v>
                </c:pt>
              </c:strCache>
            </c:strRef>
          </c:tx>
          <c:spPr>
            <a:solidFill>
              <a:srgbClr val="D65E1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5201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Подготовка и демонтаж</c:v>
                  </c:pt>
                  <c:pt idx="1">
                    <c:v>Покрытия и основания</c:v>
                  </c:pt>
                  <c:pt idx="2">
                    <c:v>Детская площадка</c:v>
                  </c:pt>
                  <c:pt idx="3">
                    <c:v>Сценический комплекс</c:v>
                  </c:pt>
                  <c:pt idx="4">
                    <c:v>Прочие МАФ и вход</c:v>
                  </c:pt>
                  <c:pt idx="5">
                    <c:v>Сохранение насаждений</c:v>
                  </c:pt>
                  <c:pt idx="6">
                    <c:v>Наружная канализация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218760</c:v>
                </c:pt>
                <c:pt idx="1">
                  <c:v>1087500</c:v>
                </c:pt>
                <c:pt idx="2">
                  <c:v>462000</c:v>
                </c:pt>
                <c:pt idx="3">
                  <c:v>713800</c:v>
                </c:pt>
                <c:pt idx="4">
                  <c:v>571950</c:v>
                </c:pt>
                <c:pt idx="5">
                  <c:v>18000</c:v>
                </c:pt>
                <c:pt idx="6">
                  <c:v>140620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5201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5201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Проект благоустройства территории Старожильского клуба. Участок 55:11:100201:1471, 1712 м². Стоимость 3 179 463 руб. при лимите 3,5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Акцент: клуб не единственный в селе, но единственный с открытой территорией у воды.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Проблемы конкретные и проверяемые, без общих слов про упадок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Генплан в масштабе 1:200. Номера на схеме совпадают с перечнем.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Ключевой кадр проекта: праздник на фоне озера Старица.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Зоны приземления по ГОСТ Р 52169.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Резьба — не декор ради декора, а действующий образец местного ремесла.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Вместимость 200-250 человек — расчёт по площади полянки и зрительской площадки.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Ансамбль «Жихарка» и коллектив «Сибирская песня» — готовая основа для вечорок.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 о развитии: вложение работает за пределами одного села.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Ведомость не является сметой по ТЕР/ФЕР; для конкурсной документации нужен локальный сметный расчёт. Существующее ограждение по трём сторонам принято исправным и не включено.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Заполнить данные собрания и софинансирования перед подачей.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0"/>
            <a:ext cx="7132320" cy="4014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0" y="0"/>
            <a:ext cx="7132320" cy="4014216"/>
          </a:xfrm>
          <a:prstGeom prst="rect">
            <a:avLst/>
          </a:prstGeom>
          <a:solidFill>
            <a:srgbClr val="15201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ИНИЦИАТИВНОЕ БЮДЖЕТИРОВАНИЕ · ОМСКАЯ ОБЛАСТЬ · 2026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051560"/>
            <a:ext cx="6035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Старожильского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клуба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Благоустройство территории Любино-Старожильского сельского клуба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с. Любино-Малороссы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Любинский район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42900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726 м²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21792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площадь благоустройства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006840" y="52578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3 373 262 ₽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5669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проекта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orota.jpg">    </p:cNvPr>
          <p:cNvPicPr>
            <a:picLocks noChangeAspect="1"/>
          </p:cNvPicPr>
          <p:nvPr/>
        </p:nvPicPr>
        <p:blipFill>
          <a:blip r:embed="rId1"/>
          <a:srcRect l="26000" r="26000" t="0" b="0"/>
          <a:stretch/>
        </p:blipFill>
        <p:spPr>
          <a:xfrm>
            <a:off x="0" y="0"/>
            <a:ext cx="58521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56692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МЕСТО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91440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Клуб, библиотека</a:t>
            </a:r>
            <a:endParaRPr lang="en-US" sz="3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выход к озеру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33172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Любино-Малороссах живёт около 1 500 человек. Старожильский клуб с сельской библиотекой под одной крышей — один из центров культурной жизни села.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09360" y="338328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37960" y="350215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Праздники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376732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Масленица · Троица · Новый год · концерты к 9 Мая, 8 Марта, 23 Февраля и Дню пожилого человека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309360" y="4434840"/>
            <a:ext cx="5303520" cy="91440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37960" y="455371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Коллективы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«Сибирская песня» — взрослый · «Нотки» — детский · «Жихарка» — детский фольклорный ансамбль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309360" y="5532120"/>
            <a:ext cx="5303520" cy="77724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379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отличает эту площадку: открытая территория и выход к озеру Старица — единственное место, где праздник можно проводить под открытым небом, с водой на горизонте.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МЕШАЕТ СЕГОДНЯ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Главный ресурс клуба не работает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Открытое пространство у озера есть — но оно не обустроено.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Сцены нет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Выступающие стоят на земле. Погода срывает концерт целиком.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214884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4963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Скамеек нет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926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несут стулья из дома. Хоровод водить негде — поляна неровная.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Детям играть негде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праздниках дети под ногами у взрослых, игровой зоны нет.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916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6583680" y="4434840"/>
            <a:ext cx="457200" cy="457200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4622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Машины на дороге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223760" y="48920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дни праздников автомобили встают на проезжей части ул. Старожильской.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Плюс два дощатых уличных туалета у берега: непригодны и закрывают выход к воде.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ПРОЕКТНОЕ РЕШЕНИЕ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Оборудованная деревенская площадь</a:t>
            </a:r>
            <a:endParaRPr lang="en-US" sz="3200" dirty="0"/>
          </a:p>
        </p:txBody>
      </p:sp>
      <p:pic>
        <p:nvPicPr>
          <p:cNvPr id="4" name="Image 0" descr="deck/pl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69164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06440" y="1691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645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 с навесом и ветрозащитой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18745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4 м, свод из оранжевого поликарбоната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06440" y="218541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80644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13969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для хороводов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3682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211 м² ровного газона под половики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806440" y="267919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06440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26334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Зрительская площадка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286207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м² асфальта перед эстрадой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806440" y="317296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06440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2724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3355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резные ворота, тропа 5 м, подход к клубу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806440" y="366674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06440" y="3666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309360" y="3621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309360" y="384962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шестигранная, кровля «Каскад» — ветровая нагрузка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806440" y="4160520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0644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309360" y="41148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площадка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309360" y="434340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м², четыре игровых элемента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806440" y="4654296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806440" y="4654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309360" y="4608576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Цветник, лавочка, навес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483717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входа в клуб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806440" y="5148072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80644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309360" y="510235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Парковка</a:t>
            </a:r>
            <a:endParaRPr lang="en-US" sz="1250" dirty="0"/>
          </a:p>
        </p:txBody>
      </p:sp>
      <p:sp>
        <p:nvSpPr>
          <p:cNvPr id="36" name="Text 33"/>
          <p:cNvSpPr txBox="1"/>
          <p:nvPr/>
        </p:nvSpPr>
        <p:spPr>
          <a:xfrm>
            <a:off x="6309360" y="53309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мест на крошке, вне ограждения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806440" y="5641848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806440" y="5641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6309360" y="5596128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Ограждение по бровке берега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582472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п.м по северной границе, крутой склон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5806440" y="6135624"/>
            <a:ext cx="329184" cy="329184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806440" y="6135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309360" y="60899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Замена наружной канализации</a:t>
            </a:r>
            <a:endParaRPr lang="en-US" sz="1250" dirty="0"/>
          </a:p>
        </p:txBody>
      </p:sp>
      <p:sp>
        <p:nvSpPr>
          <p:cNvPr id="44" name="Text 41"/>
          <p:cNvSpPr txBox="1"/>
          <p:nvPr/>
        </p:nvSpPr>
        <p:spPr>
          <a:xfrm>
            <a:off x="6309360" y="63185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п.м от выпуска здания до септика, h = 2,0 м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806440" y="6355080"/>
            <a:ext cx="5760720" cy="0"/>
          </a:xfrm>
          <a:prstGeom prst="rect">
            <a:avLst/>
          </a:prstGeom>
          <a:solidFill>
            <a:srgbClr val="F2F5E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-cle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ЭЛЕМЕНТ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4645152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 у воды и полянка для хороводов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Эстрада 8 × 4 м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Полукруглый настил под сводом из оранжевого поликарбоната — знак солнца и главный цветовой акцент площадки. Со стороны воды — прозрачная ветрозащита 1,9 м: гасит ветер с озера, но не закрывает вид.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443484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Полянка 211 м²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не ставим намеренно: ровный свободный газон нужен под хороводы и вечорки — для них требуется круг, а не ряды.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56235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Тканые половики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58978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праздники расстилают домотканые дорожки — привычная рассадка, которая освобождается за минуту, когда встают в хоровод.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detskay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66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ДЕТИ И РОДИТЕЛИ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914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Площадка в поле зрения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116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м² перед клубом справа, в прямой видимости из беседки: родители на празднике не теряют детей из виду.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2916936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834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Песочница 2,5 × 2,5 м с крышкой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" y="3319272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32369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Качалка-балансир для малышей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5800" y="3721608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Качели «Гнездо» ⌀ 1,0 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4123944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416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Спортивная лазилка 4,0 × 3,0 м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4526280"/>
            <a:ext cx="118872" cy="118872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60120" y="44439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Детская лавочка с сиденьем 0,35 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5029200"/>
            <a:ext cx="484632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5193792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— по смете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5468112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только под качелями и лазилкой, где высота падения наибольшая (70 м²). Остальное — песок 30 см: по ГОСТ Р ЕН 1177 равноценно, вдвое дешевле.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vh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62453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720840" y="566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ВХОДНАЯ ГРУППА И ФАСАД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720840" y="9144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узнаёт себя</a:t>
            </a:r>
            <a:endParaRPr lang="en-US" sz="28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деталях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720840" y="219456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72084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296912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Резные ворота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296912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Прорезное очелье, ажурный подзор, вертикальный набор створок — сибирская домовая резьба, как на старых домах по Старожильской. Изготовление силами местных мастеров.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720840" y="361188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20840" y="3611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296912" y="36301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Навес над входом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296912" y="39776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Металлический каркас, вынос 2,2 м: крыльцо закрыто от дождя и снега.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20840" y="502920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72084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296912" y="50474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Таблички клуба и библиотеки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296912" y="5394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Существующие, в смету не входят. На южном фасаде у угла, справа от дорожки, в один ряд на отметке 2,35 м — в модели показаны для ориентации.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ЭТО ТОЧКА ПРИТЯЖЕНИЯ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 место для четырёх поколений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 вмещает ограниченное число людей и делит их на сцену и ряды. Открытая площадка такого деления не делает.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566928" cy="566928"/>
          </a:xfrm>
          <a:prstGeom prst="ellipse">
            <a:avLst/>
          </a:prstGeom>
          <a:solidFill>
            <a:srgbClr val="6E9A4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игровая площадка 195 м², в поле зрения беседки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6432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1" name="Shape 9"/>
          <p:cNvSpPr/>
          <p:nvPr/>
        </p:nvSpPr>
        <p:spPr>
          <a:xfrm>
            <a:off x="3730752" y="2468880"/>
            <a:ext cx="566928" cy="566928"/>
          </a:xfrm>
          <a:prstGeom prst="ellipse">
            <a:avLst/>
          </a:prstGeom>
          <a:solidFill>
            <a:srgbClr val="2F73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30752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30752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30752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беседка на 10–12 человек и полянка рядом с детьми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72784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7104" y="2468880"/>
            <a:ext cx="566928" cy="566928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7104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47104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Старшее поколение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47104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скамьи у сцены, хороводы и вечорки на полянке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089136" y="2194560"/>
            <a:ext cx="2606040" cy="237744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9363456" y="2468880"/>
            <a:ext cx="566928" cy="566928"/>
          </a:xfrm>
          <a:prstGeom prst="ellipse">
            <a:avLst/>
          </a:prstGeom>
          <a:solidFill>
            <a:srgbClr val="1520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63456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363456" y="32004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Подростки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63456" y="37490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асфальтированная площадка перед эстрадой — в будни место для игр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200–250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 единовременно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1 500</a:t>
            </a:r>
            <a:endParaRPr lang="en-US" sz="36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жителей села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4983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круглый год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5715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лето — праздники, зима — ёлка и Масленица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И ТРАДИЦИИ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 намеренно сделан не «городским»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2763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 пластиковых скамей, ни типового павильона: каждое решение отсылает к тому, как в селе празднуют до сих пор.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Любинские вечорки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Главное, ради чего затевается площадка. Молодёжные посиделки с песнями, играми и плясками планируем возродить — для них нужно ровное открытое место, где круг собирается и расходится.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1" name="Shape 9"/>
          <p:cNvSpPr/>
          <p:nvPr/>
        </p:nvSpPr>
        <p:spPr>
          <a:xfrm>
            <a:off x="6556248" y="25603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624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578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Традиционные хороводы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9443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Хоровод требует свободного круга, а не рядов. Именно поэтому полянка остаётся ровной и без скамеек — это не экономия, а функция.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3268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Тканые половики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Домотканые дорожки есть в каждом доме, и на гуляньях их расстилали испокон веку. Полянка спроектирована под половики: это принятая в проекте норма, а не декоративная отсылка.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4114800"/>
            <a:ext cx="5257800" cy="1600200"/>
          </a:xfrm>
          <a:prstGeom prst="rect">
            <a:avLst/>
          </a:prstGeom>
          <a:solidFill>
            <a:srgbClr val="1F2C25"/>
          </a:solidFill>
          <a:ln/>
        </p:spPr>
      </p:sp>
      <p:sp>
        <p:nvSpPr>
          <p:cNvPr id="21" name="Shape 19"/>
          <p:cNvSpPr/>
          <p:nvPr/>
        </p:nvSpPr>
        <p:spPr>
          <a:xfrm>
            <a:off x="6556248" y="4389120"/>
            <a:ext cx="402336" cy="40233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56248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4074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Клуб и библиотека вместе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7731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таблички на фасаде обозначают то, что у нас сохранилось и чего во многих сёлах уже нет: работающий очаг культуры с книгой.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Культурный код не восстанавливается лекциями. Он держится на том, что люди делают вместе и регулярно: водят хоровод, садятся на половики, поют, приводят детей на ту же поляну, где водили их самих.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sce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РАЗВИТИЕ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4048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Гости села и отдыхающие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5262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Старица — место, куда в сезон приезжают на отдых. Обустроенная площадка позволяет селу впервые предложить гостю не просто берег, а программу.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5800" y="5440680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53492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Вечорка с «Сибирской песней» и «Жихаркой»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5843016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57515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Фольклорный концерт на эстраде у воды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6245352"/>
            <a:ext cx="128016" cy="128016"/>
          </a:xfrm>
          <a:prstGeom prst="ellipse">
            <a:avLst/>
          </a:prstGeom>
          <a:solidFill>
            <a:srgbClr val="D65E1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60120" y="615391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Деревенский праздник в назначенный день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40480"/>
            <a:ext cx="3977640" cy="2331720"/>
          </a:xfrm>
          <a:prstGeom prst="rect">
            <a:avLst/>
          </a:prstGeom>
          <a:solidFill>
            <a:srgbClr val="E8DFC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04164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 меняет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370832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Площадка работает не только на жителей, но и на узнаваемость Любино-Малоросс за пределами района — и создаёт основание для дальнейших проектов: сельский туризм, ярмарка, сувенирное ремесло.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ДЕФЕКТНАЯ ВЕДОМОСТЬ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3 373 262 ₽ при лимите 3,5 млн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позиций в семи разделах. Расценки укрупнённые, до подачи подтверждаются коммерческими предложениями.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2103120"/>
          <a:ext cx="69494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3 212 630 ₽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560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прямые затраты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063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520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160 632 ₽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непредвиденные, 5 %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9776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65E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126 738 ₽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4389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 до лимита, 3,6 %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72400" y="5029200"/>
            <a:ext cx="3794760" cy="1280160"/>
          </a:xfrm>
          <a:prstGeom prst="rect">
            <a:avLst/>
          </a:prstGeom>
          <a:solidFill>
            <a:srgbClr val="F2F5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5193792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65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Решения выбирались с оглядкой на смету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54681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5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Резина — только в зонах приземления, остальное песок. Парковка — крошка, не асфальт. Кровли беседки и козырька — металлочерепица «Каскад»: поликарбонат не держит здешние ветра.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k/hero.jpg">    </p:cNvPr>
          <p:cNvPicPr>
            <a:picLocks noChangeAspect="1"/>
          </p:cNvPicPr>
          <p:nvPr/>
        </p:nvPicPr>
        <p:blipFill>
          <a:blip r:embed="rId1">
            <a:alphaModFix amt="28000"/>
          </a:blip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4A5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 ЖИТЕЛЕЙ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Село готово вложиться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8308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Инициатива исходит от [инициативной группы / совета ветеранов], собрание граждан от [__.__.2026], протокол № [__].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6012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Денежный вклад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[сумма] руб. — [__] % от стоимости проекта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63640" y="251460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0" y="26791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Трудовое участие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30266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Субботники: планировка, посадка, покраска, укладка половиков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Материалы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[что именно предоставляют жители]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63640" y="3840480"/>
            <a:ext cx="5257800" cy="1097280"/>
          </a:xfrm>
          <a:prstGeom prst="rect">
            <a:avLst/>
          </a:prstGeom>
          <a:solidFill>
            <a:srgbClr val="1F2C25">
              <a:alpha val="85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3680" y="400507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Содержание после сдачи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435254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8D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Цветник и газон — участники клуба совместно с администрацией села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62356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Полянка у Старожильского клуба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Любино-Малороссы · ул. Старожильская, 44в · участок 55:11:100201:1471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55778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4A5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3 373 262 ₽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6108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лимите 3 500 000 ₽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Полянка у Старожильского клуба</dc:title>
  <dc:subject>PptxGenJS Presentation</dc:subject>
  <dc:creator>Инициативная группа с. Любино-Малороссы</dc:creator>
  <cp:lastModifiedBy>Инициативная группа с. Любино-Малороссы</cp:lastModifiedBy>
  <cp:revision>1</cp:revision>
  <dcterms:created xsi:type="dcterms:W3CDTF">2026-10-09T20:12:59Z</dcterms:created>
  <dcterms:modified xsi:type="dcterms:W3CDTF">2026-10-09T20:12:59Z</dcterms:modified>
</cp:coreProperties>
</file>